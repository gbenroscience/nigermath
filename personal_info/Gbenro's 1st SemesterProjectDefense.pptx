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3"/>
  </p:notesMasterIdLst>
  <p:sldIdLst>
    <p:sldId id="256" r:id="rId2"/>
    <p:sldId id="257" r:id="rId3"/>
    <p:sldId id="259" r:id="rId4"/>
    <p:sldId id="267" r:id="rId5"/>
    <p:sldId id="260" r:id="rId6"/>
    <p:sldId id="268" r:id="rId7"/>
    <p:sldId id="269" r:id="rId8"/>
    <p:sldId id="270" r:id="rId9"/>
    <p:sldId id="271" r:id="rId10"/>
    <p:sldId id="264" r:id="rId11"/>
    <p:sldId id="265" r:id="rId1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521" autoAdjust="0"/>
    <p:restoredTop sz="94660"/>
  </p:normalViewPr>
  <p:slideViewPr>
    <p:cSldViewPr>
      <p:cViewPr varScale="1">
        <p:scale>
          <a:sx n="74" d="100"/>
          <a:sy n="74" d="100"/>
        </p:scale>
        <p:origin x="-1086"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C94A5B15-E136-4395-A559-728E56B11BDB}" type="datetimeFigureOut">
              <a:rPr lang="en-US"/>
              <a:pPr>
                <a:defRPr/>
              </a:pPr>
              <a:t>8/18/2011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F22588D6-24D6-413F-A9E6-2C218F7336B0}"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smtClean="0"/>
          </a:p>
        </p:txBody>
      </p:sp>
      <p:sp>
        <p:nvSpPr>
          <p:cNvPr id="1536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66676FD-2C89-4518-B452-DB9C2344850C}" type="slidenum">
              <a:rPr lang="en-US" smtClean="0">
                <a:cs typeface="Arial" charset="0"/>
              </a:rPr>
              <a:pPr fontAlgn="base">
                <a:spcBef>
                  <a:spcPct val="0"/>
                </a:spcBef>
                <a:spcAft>
                  <a:spcPct val="0"/>
                </a:spcAft>
                <a:defRPr/>
              </a:pPr>
              <a:t>1</a:t>
            </a:fld>
            <a:endParaRPr lang="en-US" smtClean="0">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p:spPr>
      </p:sp>
      <p:sp>
        <p:nvSpPr>
          <p:cNvPr id="153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smtClean="0"/>
          </a:p>
        </p:txBody>
      </p:sp>
      <p:sp>
        <p:nvSpPr>
          <p:cNvPr id="1741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CD6E62E-2DC3-47BD-B54D-0208626E2ECF}" type="slidenum">
              <a:rPr lang="en-US" smtClean="0">
                <a:cs typeface="Arial" charset="0"/>
              </a:rPr>
              <a:pPr fontAlgn="base">
                <a:spcBef>
                  <a:spcPct val="0"/>
                </a:spcBef>
                <a:spcAft>
                  <a:spcPct val="0"/>
                </a:spcAft>
                <a:defRPr/>
              </a:pPr>
              <a:t>2</a:t>
            </a:fld>
            <a:endParaRPr lang="en-US" smtClean="0">
              <a:cs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p:spPr>
      </p:sp>
      <p:sp>
        <p:nvSpPr>
          <p:cNvPr id="163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smtClean="0"/>
          </a:p>
        </p:txBody>
      </p:sp>
      <p:sp>
        <p:nvSpPr>
          <p:cNvPr id="2150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9ECBA91-B310-488C-A60A-B15DB1AB1C77}" type="slidenum">
              <a:rPr lang="en-US" smtClean="0">
                <a:cs typeface="Arial" charset="0"/>
              </a:rPr>
              <a:pPr fontAlgn="base">
                <a:spcBef>
                  <a:spcPct val="0"/>
                </a:spcBef>
                <a:spcAft>
                  <a:spcPct val="0"/>
                </a:spcAft>
                <a:defRPr/>
              </a:pPr>
              <a:t>3</a:t>
            </a:fld>
            <a:endParaRPr lang="en-US" smtClean="0">
              <a:cs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p:spPr>
      </p:sp>
      <p:sp>
        <p:nvSpPr>
          <p:cNvPr id="174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smtClean="0"/>
          </a:p>
        </p:txBody>
      </p:sp>
      <p:sp>
        <p:nvSpPr>
          <p:cNvPr id="2355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99FC071-B1EF-47A4-A4BF-24B52D44239E}" type="slidenum">
              <a:rPr lang="en-US" smtClean="0">
                <a:cs typeface="Arial" charset="0"/>
              </a:rPr>
              <a:pPr fontAlgn="base">
                <a:spcBef>
                  <a:spcPct val="0"/>
                </a:spcBef>
                <a:spcAft>
                  <a:spcPct val="0"/>
                </a:spcAft>
                <a:defRPr/>
              </a:pPr>
              <a:t>4</a:t>
            </a:fld>
            <a:endParaRPr lang="en-US" smtClean="0">
              <a:cs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smtClean="0"/>
          </a:p>
        </p:txBody>
      </p:sp>
      <p:sp>
        <p:nvSpPr>
          <p:cNvPr id="2560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D50C105-4EE7-476D-A393-2929CDD5C688}" type="slidenum">
              <a:rPr lang="en-US" smtClean="0">
                <a:cs typeface="Arial" charset="0"/>
              </a:rPr>
              <a:pPr fontAlgn="base">
                <a:spcBef>
                  <a:spcPct val="0"/>
                </a:spcBef>
                <a:spcAft>
                  <a:spcPct val="0"/>
                </a:spcAft>
                <a:defRPr/>
              </a:pPr>
              <a:t>5</a:t>
            </a:fld>
            <a:endParaRPr lang="en-US" smtClean="0">
              <a:cs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p:spPr>
      </p:sp>
      <p:sp>
        <p:nvSpPr>
          <p:cNvPr id="194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smtClean="0"/>
          </a:p>
        </p:txBody>
      </p:sp>
      <p:sp>
        <p:nvSpPr>
          <p:cNvPr id="2765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6F065BB-7CEC-4611-8BA6-485FCA1BDD3F}" type="slidenum">
              <a:rPr lang="en-US" smtClean="0">
                <a:cs typeface="Arial" charset="0"/>
              </a:rPr>
              <a:pPr fontAlgn="base">
                <a:spcBef>
                  <a:spcPct val="0"/>
                </a:spcBef>
                <a:spcAft>
                  <a:spcPct val="0"/>
                </a:spcAft>
                <a:defRPr/>
              </a:pPr>
              <a:t>6</a:t>
            </a:fld>
            <a:endParaRPr lang="en-US" smtClean="0">
              <a:cs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p:spPr>
      </p:sp>
      <p:sp>
        <p:nvSpPr>
          <p:cNvPr id="2048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smtClean="0"/>
          </a:p>
        </p:txBody>
      </p:sp>
      <p:sp>
        <p:nvSpPr>
          <p:cNvPr id="3379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4C26DB8-8BF0-4A7D-8676-289F7F2783AA}" type="slidenum">
              <a:rPr lang="en-US" smtClean="0">
                <a:cs typeface="Arial" charset="0"/>
              </a:rPr>
              <a:pPr fontAlgn="base">
                <a:spcBef>
                  <a:spcPct val="0"/>
                </a:spcBef>
                <a:spcAft>
                  <a:spcPct val="0"/>
                </a:spcAft>
                <a:defRPr/>
              </a:pPr>
              <a:t>7</a:t>
            </a:fld>
            <a:endParaRPr lang="en-US" smtClean="0">
              <a:cs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p:spPr>
      </p:sp>
      <p:sp>
        <p:nvSpPr>
          <p:cNvPr id="215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smtClean="0"/>
          </a:p>
        </p:txBody>
      </p:sp>
      <p:sp>
        <p:nvSpPr>
          <p:cNvPr id="2969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4BFF55D-E67F-4DF3-ABBF-C68EA3F5DD17}" type="slidenum">
              <a:rPr lang="en-US" smtClean="0">
                <a:cs typeface="Arial" charset="0"/>
              </a:rPr>
              <a:pPr fontAlgn="base">
                <a:spcBef>
                  <a:spcPct val="0"/>
                </a:spcBef>
                <a:spcAft>
                  <a:spcPct val="0"/>
                </a:spcAft>
                <a:defRPr/>
              </a:pPr>
              <a:t>8</a:t>
            </a:fld>
            <a:endParaRPr lang="en-US" smtClean="0">
              <a:cs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p:spPr>
      </p:sp>
      <p:sp>
        <p:nvSpPr>
          <p:cNvPr id="225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smtClean="0"/>
          </a:p>
        </p:txBody>
      </p:sp>
      <p:sp>
        <p:nvSpPr>
          <p:cNvPr id="3174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85331D3-A2B2-4757-BB80-2838B6652C05}" type="slidenum">
              <a:rPr lang="en-US" smtClean="0">
                <a:cs typeface="Arial" charset="0"/>
              </a:rPr>
              <a:pPr fontAlgn="base">
                <a:spcBef>
                  <a:spcPct val="0"/>
                </a:spcBef>
                <a:spcAft>
                  <a:spcPct val="0"/>
                </a:spcAft>
                <a:defRPr/>
              </a:pPr>
              <a:t>9</a:t>
            </a:fld>
            <a:endParaRPr lang="en-US" smtClean="0">
              <a:cs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p:spPr>
      </p:sp>
      <p:sp>
        <p:nvSpPr>
          <p:cNvPr id="235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smtClean="0"/>
          </a:p>
        </p:txBody>
      </p:sp>
      <p:sp>
        <p:nvSpPr>
          <p:cNvPr id="3584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CD7CDBB-64F7-4332-8371-006EFC1F3C5F}" type="slidenum">
              <a:rPr lang="en-US" smtClean="0">
                <a:cs typeface="Arial" charset="0"/>
              </a:rPr>
              <a:pPr fontAlgn="base">
                <a:spcBef>
                  <a:spcPct val="0"/>
                </a:spcBef>
                <a:spcAft>
                  <a:spcPct val="0"/>
                </a:spcAft>
                <a:defRPr/>
              </a:pPr>
              <a:t>10</a:t>
            </a:fld>
            <a:endParaRPr lang="en-US" smtClean="0">
              <a:cs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p:spPr>
      </p:sp>
      <p:sp>
        <p:nvSpPr>
          <p:cNvPr id="245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smtClean="0"/>
          </a:p>
        </p:txBody>
      </p:sp>
      <p:sp>
        <p:nvSpPr>
          <p:cNvPr id="3789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E1662C0-46A1-45FE-9AD6-DFFF31C1ED7A}" type="slidenum">
              <a:rPr lang="en-US" smtClean="0">
                <a:cs typeface="Arial" charset="0"/>
              </a:rPr>
              <a:pPr fontAlgn="base">
                <a:spcBef>
                  <a:spcPct val="0"/>
                </a:spcBef>
                <a:spcAft>
                  <a:spcPct val="0"/>
                </a:spcAft>
                <a:defRPr/>
              </a:pPr>
              <a:t>11</a:t>
            </a:fld>
            <a:endParaRPr lang="en-US" smtClean="0">
              <a:cs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3A0A6E61-1C55-4A98-AB0B-5323B1D62ABB}" type="datetimeFigureOut">
              <a:rPr lang="en-US"/>
              <a:pPr>
                <a:defRPr/>
              </a:pPr>
              <a:t>8/18/2011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51160E3-FB77-43F4-9337-62564941FD86}"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453C8C1-4623-46CD-B3AF-453CD70A205D}" type="datetimeFigureOut">
              <a:rPr lang="en-US"/>
              <a:pPr>
                <a:defRPr/>
              </a:pPr>
              <a:t>8/18/2011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854001F-FD19-4B46-94DC-C9D6940C0834}"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BF7C115-76EE-4A33-AA13-039DF469FFA3}" type="datetimeFigureOut">
              <a:rPr lang="en-US"/>
              <a:pPr>
                <a:defRPr/>
              </a:pPr>
              <a:t>8/18/2011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3202EF5-A4C7-4CA9-A6C5-A84D85D99E61}"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F874DF60-A84E-4CE8-9461-FA6965E9EE1E}" type="datetimeFigureOut">
              <a:rPr lang="en-US"/>
              <a:pPr>
                <a:defRPr/>
              </a:pPr>
              <a:t>8/18/2011</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261348F-FC78-4A76-945C-1442428E81F8}"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40A169AE-1F33-45B5-9865-BE4F63A6010F}" type="datetimeFigureOut">
              <a:rPr lang="en-US"/>
              <a:pPr>
                <a:defRPr/>
              </a:pPr>
              <a:t>8/18/2011</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9FD4A871-3124-48C3-95F1-5B3C0CE0371E}"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CE02A9AC-46D6-44CA-96C2-C27A14E57223}" type="datetimeFigureOut">
              <a:rPr lang="en-US"/>
              <a:pPr>
                <a:defRPr/>
              </a:pPr>
              <a:t>8/18/2011</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5F745D2-EA0C-4879-8DFF-B7E20BA22DE6}"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F4B3A93-83DB-45D2-BEDC-49248821A8BB}" type="datetimeFigureOut">
              <a:rPr lang="en-US"/>
              <a:pPr>
                <a:defRPr/>
              </a:pPr>
              <a:t>8/18/2011</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FD6F288B-210F-46AE-B2D0-D29BF0A3352A}"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8AC867D-5B41-4B59-9E28-56B1C24B29C4}" type="datetimeFigureOut">
              <a:rPr lang="en-US"/>
              <a:pPr>
                <a:defRPr/>
              </a:pPr>
              <a:t>8/18/2011</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075F364-DBA4-467A-AA5A-42C85DCEBEC3}"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89962E68-AB21-4DC9-B974-EF9485826B55}" type="datetimeFigureOut">
              <a:rPr lang="en-US"/>
              <a:pPr>
                <a:defRPr/>
              </a:pPr>
              <a:t>8/18/2011</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63ED739-D695-4DC8-A987-C8783A252445}"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8849465-F857-4CB3-A9DE-1C518221AD1C}" type="datetimeFigureOut">
              <a:rPr lang="en-US"/>
              <a:pPr>
                <a:defRPr/>
              </a:pPr>
              <a:t>8/18/2011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8DE634-2F8F-4A07-B467-B2E3A27A7A22}"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BC356EB-2998-46AF-BE58-0F695E2F542F}" type="datetimeFigureOut">
              <a:rPr lang="en-US"/>
              <a:pPr>
                <a:defRPr/>
              </a:pPr>
              <a:t>8/18/2011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1417CDB-AF4F-411C-A993-2571B27251C9}"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87E89BDF-6A5D-47FE-A580-0DD596F85358}" type="datetimeFigureOut">
              <a:rPr lang="en-US"/>
              <a:pPr>
                <a:defRPr/>
              </a:pPr>
              <a:t>8/18/2011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86E8C0EE-14B0-4609-B41B-6364BF5625B2}"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609600" y="304800"/>
            <a:ext cx="7848600" cy="5715000"/>
          </a:xfrm>
        </p:spPr>
        <p:txBody>
          <a:bodyPr/>
          <a:lstStyle/>
          <a:p>
            <a:pPr eaLnBrk="1" hangingPunct="1"/>
            <a:r>
              <a:rPr lang="en-US" sz="3600" dirty="0" smtClean="0">
                <a:latin typeface="Times New Roman" pitchFamily="18" charset="0"/>
                <a:cs typeface="Times New Roman" pitchFamily="18" charset="0"/>
              </a:rPr>
              <a:t>DEVELOPMENT </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OF A PLAIN INPUT MATHEMATICAL COMPUTING FRAMEWORK.</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PRESENTED BY:</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 JIBOYE Oluwagbemiro Olaoluwa          </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CSC/2005/089</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AUGUST, 2010.</a:t>
            </a:r>
            <a:r>
              <a:rPr lang="en-US" sz="2900" dirty="0" smtClean="0">
                <a:latin typeface="Times New Roman" pitchFamily="18" charset="0"/>
                <a:cs typeface="Times New Roman" pitchFamily="18" charset="0"/>
              </a:rPr>
              <a:t/>
            </a:r>
            <a:br>
              <a:rPr lang="en-US" sz="2900" dirty="0" smtClean="0">
                <a:latin typeface="Times New Roman" pitchFamily="18" charset="0"/>
                <a:cs typeface="Times New Roman" pitchFamily="18" charset="0"/>
              </a:rPr>
            </a:br>
            <a:endParaRPr lang="en-US" sz="2900" dirty="0" smtClean="0">
              <a:latin typeface="Times New Roman" pitchFamily="18" charset="0"/>
              <a:cs typeface="Times New Roman" pitchFamily="18" charset="0"/>
            </a:endParaRPr>
          </a:p>
        </p:txBody>
      </p:sp>
      <p:sp>
        <p:nvSpPr>
          <p:cNvPr id="3" name="Subtitle 2"/>
          <p:cNvSpPr>
            <a:spLocks noGrp="1"/>
          </p:cNvSpPr>
          <p:nvPr>
            <p:ph type="subTitle" idx="1"/>
          </p:nvPr>
        </p:nvSpPr>
        <p:spPr>
          <a:xfrm>
            <a:off x="2667000" y="6248400"/>
            <a:ext cx="5105400" cy="228600"/>
          </a:xfrm>
        </p:spPr>
        <p:txBody>
          <a:bodyPr rtlCol="0">
            <a:normAutofit fontScale="32500" lnSpcReduction="20000"/>
          </a:bodyPr>
          <a:lstStyle/>
          <a:p>
            <a:pPr eaLnBrk="1" fontAlgn="auto" hangingPunct="1">
              <a:spcAft>
                <a:spcPts val="0"/>
              </a:spcAft>
              <a:defRPr/>
            </a:pP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457200" y="304800"/>
            <a:ext cx="8229600" cy="1143000"/>
          </a:xfrm>
        </p:spPr>
        <p:txBody>
          <a:bodyPr/>
          <a:lstStyle/>
          <a:p>
            <a:pPr eaLnBrk="1" hangingPunct="1"/>
            <a:r>
              <a:rPr lang="en-US" smtClean="0">
                <a:latin typeface="Times New Roman" pitchFamily="18" charset="0"/>
                <a:cs typeface="Times New Roman" pitchFamily="18" charset="0"/>
              </a:rPr>
              <a:t>OUTLINE</a:t>
            </a:r>
          </a:p>
        </p:txBody>
      </p:sp>
      <p:sp>
        <p:nvSpPr>
          <p:cNvPr id="3075" name="Content Placeholder 2"/>
          <p:cNvSpPr>
            <a:spLocks noGrp="1"/>
          </p:cNvSpPr>
          <p:nvPr>
            <p:ph idx="1"/>
          </p:nvPr>
        </p:nvSpPr>
        <p:spPr/>
        <p:txBody>
          <a:bodyPr/>
          <a:lstStyle/>
          <a:p>
            <a:pPr marL="514350" indent="-514350" eaLnBrk="1" hangingPunct="1">
              <a:spcBef>
                <a:spcPct val="0"/>
              </a:spcBef>
              <a:buFont typeface="Calibri" pitchFamily="34" charset="0"/>
              <a:buAutoNum type="arabicPeriod"/>
            </a:pPr>
            <a:r>
              <a:rPr lang="en-US" smtClean="0">
                <a:latin typeface="Times New Roman" pitchFamily="18" charset="0"/>
                <a:cs typeface="Times New Roman" pitchFamily="18" charset="0"/>
              </a:rPr>
              <a:t>Problem Definition</a:t>
            </a:r>
          </a:p>
          <a:p>
            <a:pPr marL="514350" indent="-514350" eaLnBrk="1" hangingPunct="1">
              <a:spcBef>
                <a:spcPct val="0"/>
              </a:spcBef>
              <a:buFont typeface="Calibri" pitchFamily="34" charset="0"/>
              <a:buAutoNum type="arabicPeriod"/>
            </a:pPr>
            <a:r>
              <a:rPr lang="en-US" smtClean="0">
                <a:latin typeface="Times New Roman" pitchFamily="18" charset="0"/>
                <a:cs typeface="Times New Roman" pitchFamily="18" charset="0"/>
              </a:rPr>
              <a:t>Project Justification</a:t>
            </a:r>
          </a:p>
          <a:p>
            <a:pPr marL="514350" indent="-514350" eaLnBrk="1" hangingPunct="1">
              <a:spcBef>
                <a:spcPct val="0"/>
              </a:spcBef>
              <a:buFont typeface="Calibri" pitchFamily="34" charset="0"/>
              <a:buAutoNum type="arabicPeriod"/>
            </a:pPr>
            <a:r>
              <a:rPr lang="en-US" smtClean="0">
                <a:latin typeface="Times New Roman" pitchFamily="18" charset="0"/>
                <a:cs typeface="Times New Roman" pitchFamily="18" charset="0"/>
              </a:rPr>
              <a:t>Aim and Objectives</a:t>
            </a:r>
          </a:p>
          <a:p>
            <a:pPr marL="514350" indent="-514350" eaLnBrk="1" hangingPunct="1">
              <a:spcBef>
                <a:spcPct val="0"/>
              </a:spcBef>
              <a:buFont typeface="Calibri" pitchFamily="34" charset="0"/>
              <a:buAutoNum type="arabicPeriod"/>
            </a:pPr>
            <a:r>
              <a:rPr lang="en-US" smtClean="0">
                <a:latin typeface="Times New Roman" pitchFamily="18" charset="0"/>
                <a:cs typeface="Times New Roman" pitchFamily="18" charset="0"/>
              </a:rPr>
              <a:t>Methodology</a:t>
            </a:r>
          </a:p>
          <a:p>
            <a:pPr marL="514350" indent="-514350" eaLnBrk="1" hangingPunct="1">
              <a:spcBef>
                <a:spcPct val="0"/>
              </a:spcBef>
              <a:buFont typeface="Calibri" pitchFamily="34" charset="0"/>
              <a:buAutoNum type="arabicPeriod"/>
            </a:pPr>
            <a:r>
              <a:rPr lang="en-US" smtClean="0">
                <a:latin typeface="Times New Roman" pitchFamily="18" charset="0"/>
                <a:cs typeface="Times New Roman" pitchFamily="18" charset="0"/>
              </a:rPr>
              <a:t>System Design</a:t>
            </a:r>
          </a:p>
          <a:p>
            <a:pPr marL="514350" indent="-514350" eaLnBrk="1" hangingPunct="1">
              <a:spcBef>
                <a:spcPct val="0"/>
              </a:spcBef>
              <a:buFont typeface="Calibri" pitchFamily="34" charset="0"/>
              <a:buAutoNum type="arabicPeriod"/>
            </a:pPr>
            <a:r>
              <a:rPr lang="en-US" smtClean="0">
                <a:latin typeface="Times New Roman" pitchFamily="18" charset="0"/>
                <a:cs typeface="Times New Roman" pitchFamily="18" charset="0"/>
              </a:rPr>
              <a:t>Literature Review</a:t>
            </a:r>
          </a:p>
          <a:p>
            <a:pPr marL="514350" indent="-514350" eaLnBrk="1" hangingPunct="1">
              <a:spcBef>
                <a:spcPct val="0"/>
              </a:spcBef>
              <a:buFont typeface="Calibri" pitchFamily="34" charset="0"/>
              <a:buAutoNum type="arabicPeriod"/>
            </a:pPr>
            <a:r>
              <a:rPr lang="en-US" smtClean="0">
                <a:latin typeface="Times New Roman" pitchFamily="18" charset="0"/>
                <a:cs typeface="Times New Roman" pitchFamily="18" charset="0"/>
              </a:rPr>
              <a:t>Conclusion.</a:t>
            </a:r>
          </a:p>
          <a:p>
            <a:pPr marL="514350" indent="-514350" eaLnBrk="1" hangingPunct="1">
              <a:spcBef>
                <a:spcPct val="0"/>
              </a:spcBef>
              <a:buFont typeface="Calibri" pitchFamily="34" charset="0"/>
              <a:buAutoNum type="arabicPeriod"/>
            </a:pPr>
            <a:endParaRPr lang="en-US" smtClean="0">
              <a:latin typeface="Times New Roman" pitchFamily="18" charset="0"/>
              <a:cs typeface="Times New Roman" pitchFamily="18" charset="0"/>
            </a:endParaRPr>
          </a:p>
          <a:p>
            <a:pPr marL="514350" indent="-514350" eaLnBrk="1" hangingPunct="1">
              <a:spcBef>
                <a:spcPct val="0"/>
              </a:spcBef>
              <a:buFont typeface="Calibri" pitchFamily="34" charset="0"/>
              <a:buAutoNum type="arabicPeriod"/>
            </a:pPr>
            <a:endParaRPr lang="en-US" smtClean="0">
              <a:latin typeface="Times New Roman" pitchFamily="18" charset="0"/>
              <a:cs typeface="Times New Roman" pitchFamily="18" charset="0"/>
            </a:endParaRPr>
          </a:p>
          <a:p>
            <a:pPr marL="514350" indent="-514350" eaLnBrk="1" hangingPunct="1">
              <a:spcBef>
                <a:spcPct val="0"/>
              </a:spcBef>
              <a:buFont typeface="Calibri" pitchFamily="34" charset="0"/>
              <a:buAutoNum type="arabicPeriod"/>
            </a:pPr>
            <a:endParaRPr lang="en-US" smtClean="0">
              <a:latin typeface="Times New Roman" pitchFamily="18" charset="0"/>
              <a:cs typeface="Times New Roman" pitchFamily="18" charset="0"/>
            </a:endParaRPr>
          </a:p>
          <a:p>
            <a:pPr marL="514350" indent="-514350" eaLnBrk="1" hangingPunct="1">
              <a:spcBef>
                <a:spcPct val="0"/>
              </a:spcBef>
              <a:buFont typeface="Calibri" pitchFamily="34" charset="0"/>
              <a:buAutoNum type="arabicPeriod"/>
            </a:pPr>
            <a:endParaRPr lang="en-US" smtClean="0">
              <a:latin typeface="Times New Roman" pitchFamily="18" charset="0"/>
              <a:cs typeface="Times New Roman" pitchFamily="18" charset="0"/>
            </a:endParaRPr>
          </a:p>
          <a:p>
            <a:pPr marL="514350" indent="-514350" eaLnBrk="1" hangingPunct="1">
              <a:spcBef>
                <a:spcPct val="0"/>
              </a:spcBef>
              <a:buFont typeface="Calibri" pitchFamily="34" charset="0"/>
              <a:buAutoNum type="arabicPeriod"/>
            </a:pPr>
            <a:endParaRPr lang="en-US"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smtClean="0">
                <a:latin typeface="Times New Roman" pitchFamily="18" charset="0"/>
                <a:cs typeface="Times New Roman" pitchFamily="18" charset="0"/>
              </a:rPr>
              <a:t>PROBLEM DEFINITION</a:t>
            </a:r>
          </a:p>
        </p:txBody>
      </p:sp>
      <p:sp>
        <p:nvSpPr>
          <p:cNvPr id="4099" name="Content Placeholder 2"/>
          <p:cNvSpPr>
            <a:spLocks noGrp="1"/>
          </p:cNvSpPr>
          <p:nvPr>
            <p:ph idx="1"/>
          </p:nvPr>
        </p:nvSpPr>
        <p:spPr/>
        <p:txBody>
          <a:bodyPr/>
          <a:lstStyle/>
          <a:p>
            <a:pPr eaLnBrk="1" hangingPunct="1">
              <a:buFont typeface="Wingdings" pitchFamily="2" charset="2"/>
              <a:buChar char="§"/>
            </a:pPr>
            <a:r>
              <a:rPr lang="en-US" smtClean="0"/>
              <a:t>The problem is to develop an easy to use combination of a mathematical expression parser and its interaction interface which will allow users to enter mathematical expressions in a form that is close to plain </a:t>
            </a:r>
            <a:r>
              <a:rPr lang="en-US" smtClean="0">
                <a:latin typeface="Times New Roman" pitchFamily="18" charset="0"/>
                <a:cs typeface="Times New Roman" pitchFamily="18" charset="0"/>
              </a:rPr>
              <a:t>mathematical</a:t>
            </a:r>
            <a:r>
              <a:rPr lang="en-US" smtClean="0"/>
              <a:t> language, and also evaluate them.</a:t>
            </a:r>
          </a:p>
          <a:p>
            <a:pPr eaLnBrk="1" hangingPunct="1">
              <a:buFont typeface="Wingdings" pitchFamily="2" charset="2"/>
              <a:buChar char="§"/>
            </a:pPr>
            <a:endParaRPr lang="en-US" smtClean="0"/>
          </a:p>
          <a:p>
            <a:pPr eaLnBrk="1" hangingPunct="1">
              <a:buFont typeface="Wingdings" pitchFamily="2" charset="2"/>
              <a:buChar char="§"/>
            </a:pPr>
            <a:endParaRPr lang="en-US"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smtClean="0">
                <a:latin typeface="Times New Roman" pitchFamily="18" charset="0"/>
                <a:cs typeface="Times New Roman" pitchFamily="18" charset="0"/>
              </a:rPr>
              <a:t>PROJECT JUSTIFICATION</a:t>
            </a:r>
          </a:p>
        </p:txBody>
      </p:sp>
      <p:sp>
        <p:nvSpPr>
          <p:cNvPr id="3" name="Content Placeholder 2"/>
          <p:cNvSpPr>
            <a:spLocks noGrp="1"/>
          </p:cNvSpPr>
          <p:nvPr>
            <p:ph idx="1"/>
          </p:nvPr>
        </p:nvSpPr>
        <p:spPr/>
        <p:txBody>
          <a:bodyPr rtlCol="0">
            <a:normAutofit lnSpcReduction="10000"/>
          </a:bodyPr>
          <a:lstStyle/>
          <a:p>
            <a:pPr eaLnBrk="1" fontAlgn="auto" hangingPunct="1">
              <a:spcAft>
                <a:spcPts val="0"/>
              </a:spcAft>
              <a:buFont typeface="Wingdings" pitchFamily="2" charset="2"/>
              <a:buChar char="Ø"/>
              <a:defRPr/>
            </a:pPr>
            <a:r>
              <a:rPr lang="en-US" dirty="0" smtClean="0">
                <a:latin typeface="Times New Roman" pitchFamily="18" charset="0"/>
                <a:cs typeface="Times New Roman" pitchFamily="18" charset="0"/>
              </a:rPr>
              <a:t> A great challenge that users face when interacting with mathematical computing software is that many of them do not take input in plain mathematical language.</a:t>
            </a:r>
          </a:p>
          <a:p>
            <a:pPr eaLnBrk="1" fontAlgn="auto" hangingPunct="1">
              <a:spcAft>
                <a:spcPts val="0"/>
              </a:spcAft>
              <a:buFont typeface="Arial" pitchFamily="34" charset="0"/>
              <a:buNone/>
              <a:defRPr/>
            </a:pPr>
            <a:r>
              <a:rPr lang="en-US" dirty="0" smtClean="0">
                <a:latin typeface="Times New Roman" pitchFamily="18" charset="0"/>
                <a:cs typeface="Times New Roman" pitchFamily="18" charset="0"/>
              </a:rPr>
              <a:t>    For example, 2x³+3x²-5x+1 is written in the popular Matrix Laboratory software as </a:t>
            </a:r>
          </a:p>
          <a:p>
            <a:pPr eaLnBrk="1" fontAlgn="auto" hangingPunct="1">
              <a:spcAft>
                <a:spcPts val="0"/>
              </a:spcAft>
              <a:buFont typeface="Arial" pitchFamily="34" charset="0"/>
              <a:buNone/>
              <a:defRPr/>
            </a:pPr>
            <a:r>
              <a:rPr lang="en-US" dirty="0" smtClean="0">
                <a:latin typeface="Times New Roman" pitchFamily="18" charset="0"/>
                <a:cs typeface="Times New Roman" pitchFamily="18" charset="0"/>
              </a:rPr>
              <a:t>    [2 3 -5 1]. A new user would however, input it in plain mathematical form and this has caused an under-utilization of this software.</a:t>
            </a:r>
          </a:p>
          <a:p>
            <a:pPr eaLnBrk="1" fontAlgn="auto" hangingPunct="1">
              <a:spcAft>
                <a:spcPts val="0"/>
              </a:spcAft>
              <a:buFont typeface="Arial" pitchFamily="34" charset="0"/>
              <a:buNone/>
              <a:defRPr/>
            </a:pPr>
            <a:endParaRPr lang="en-US" dirty="0" smtClean="0">
              <a:latin typeface="Times New Roman" pitchFamily="18" charset="0"/>
              <a:cs typeface="Times New Roman" pitchFamily="18" charset="0"/>
            </a:endParaRPr>
          </a:p>
          <a:p>
            <a:pPr eaLnBrk="1" fontAlgn="auto" hangingPunct="1">
              <a:spcAft>
                <a:spcPts val="0"/>
              </a:spcAft>
              <a:buFont typeface="Arial" pitchFamily="34" charset="0"/>
              <a:buNone/>
              <a:defRPr/>
            </a:pPr>
            <a:endParaRPr lang="en-US" dirty="0" smtClean="0">
              <a:latin typeface="Times New Roman" pitchFamily="18" charset="0"/>
              <a:cs typeface="Times New Roman" pitchFamily="18" charset="0"/>
            </a:endParaRPr>
          </a:p>
          <a:p>
            <a:pPr eaLnBrk="1" fontAlgn="auto" hangingPunct="1">
              <a:spcAft>
                <a:spcPts val="0"/>
              </a:spcAft>
              <a:buFont typeface="Wingdings" pitchFamily="2" charset="2"/>
              <a:buChar char="§"/>
              <a:defRPr/>
            </a:pPr>
            <a:endParaRPr lang="en-US" dirty="0" smtClean="0">
              <a:latin typeface="Times New Roman" pitchFamily="18" charset="0"/>
              <a:cs typeface="Times New Roman" pitchFamily="18" charset="0"/>
            </a:endParaRPr>
          </a:p>
          <a:p>
            <a:pPr eaLnBrk="1" fontAlgn="auto" hangingPunct="1">
              <a:spcAft>
                <a:spcPts val="0"/>
              </a:spcAft>
              <a:defRPr/>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smtClean="0">
                <a:latin typeface="Times New Roman" pitchFamily="18" charset="0"/>
                <a:cs typeface="Times New Roman" pitchFamily="18" charset="0"/>
              </a:rPr>
              <a:t>AIM AND OBJECTIVES</a:t>
            </a:r>
          </a:p>
        </p:txBody>
      </p:sp>
      <p:sp>
        <p:nvSpPr>
          <p:cNvPr id="6147" name="Content Placeholder 2"/>
          <p:cNvSpPr>
            <a:spLocks noGrp="1"/>
          </p:cNvSpPr>
          <p:nvPr>
            <p:ph idx="1"/>
          </p:nvPr>
        </p:nvSpPr>
        <p:spPr>
          <a:xfrm>
            <a:off x="457200" y="1600200"/>
            <a:ext cx="8229600" cy="4678363"/>
          </a:xfrm>
        </p:spPr>
        <p:txBody>
          <a:bodyPr/>
          <a:lstStyle/>
          <a:p>
            <a:pPr eaLnBrk="1" hangingPunct="1">
              <a:lnSpc>
                <a:spcPct val="80000"/>
              </a:lnSpc>
              <a:buFont typeface="Wingdings" pitchFamily="2" charset="2"/>
              <a:buChar char="§"/>
            </a:pPr>
            <a:r>
              <a:rPr lang="en-US" sz="2700" smtClean="0">
                <a:latin typeface="Times New Roman" pitchFamily="18" charset="0"/>
                <a:cs typeface="Times New Roman" pitchFamily="18" charset="0"/>
              </a:rPr>
              <a:t>The aim to develop a mathematical framework to solve diverse mathematical problems, using plain mathematical expressions as input.</a:t>
            </a:r>
          </a:p>
          <a:p>
            <a:pPr eaLnBrk="1" hangingPunct="1">
              <a:lnSpc>
                <a:spcPct val="80000"/>
              </a:lnSpc>
              <a:buFont typeface="Arial" pitchFamily="34" charset="0"/>
              <a:buNone/>
            </a:pPr>
            <a:r>
              <a:rPr lang="en-US" sz="2700" smtClean="0">
                <a:latin typeface="Times New Roman" pitchFamily="18" charset="0"/>
                <a:cs typeface="Times New Roman" pitchFamily="18" charset="0"/>
              </a:rPr>
              <a:t> </a:t>
            </a:r>
            <a:r>
              <a:rPr lang="en-US" sz="2700" b="1" smtClean="0">
                <a:latin typeface="Times New Roman" pitchFamily="18" charset="0"/>
                <a:cs typeface="Times New Roman" pitchFamily="18" charset="0"/>
              </a:rPr>
              <a:t>The objectives are to:</a:t>
            </a:r>
          </a:p>
          <a:p>
            <a:pPr eaLnBrk="1" hangingPunct="1">
              <a:lnSpc>
                <a:spcPct val="80000"/>
              </a:lnSpc>
              <a:buFont typeface="Wingdings" pitchFamily="2" charset="2"/>
              <a:buChar char="§"/>
            </a:pPr>
            <a:r>
              <a:rPr lang="en-US" sz="2700" smtClean="0">
                <a:latin typeface="Times New Roman" pitchFamily="18" charset="0"/>
                <a:cs typeface="Times New Roman" pitchFamily="18" charset="0"/>
              </a:rPr>
              <a:t>design a system of mathematical parsers, each one having a specific target mathematical problem which it will solve. </a:t>
            </a:r>
          </a:p>
          <a:p>
            <a:pPr eaLnBrk="1" hangingPunct="1">
              <a:lnSpc>
                <a:spcPct val="80000"/>
              </a:lnSpc>
              <a:buFont typeface="Wingdings" pitchFamily="2" charset="2"/>
              <a:buChar char="§"/>
            </a:pPr>
            <a:r>
              <a:rPr lang="en-US" sz="2700" smtClean="0">
                <a:latin typeface="Times New Roman" pitchFamily="18" charset="0"/>
                <a:cs typeface="Times New Roman" pitchFamily="18" charset="0"/>
              </a:rPr>
              <a:t>design a mathematical interface through which the user will interact with the parsers.</a:t>
            </a:r>
          </a:p>
          <a:p>
            <a:pPr eaLnBrk="1" hangingPunct="1">
              <a:lnSpc>
                <a:spcPct val="80000"/>
              </a:lnSpc>
              <a:buFont typeface="Wingdings" pitchFamily="2" charset="2"/>
              <a:buChar char="§"/>
            </a:pPr>
            <a:r>
              <a:rPr lang="en-US" sz="2700" smtClean="0">
                <a:latin typeface="Times New Roman" pitchFamily="18" charset="0"/>
                <a:cs typeface="Times New Roman" pitchFamily="18" charset="0"/>
              </a:rPr>
              <a:t>implement the two designs above.</a:t>
            </a:r>
          </a:p>
          <a:p>
            <a:pPr eaLnBrk="1" hangingPunct="1">
              <a:lnSpc>
                <a:spcPct val="80000"/>
              </a:lnSpc>
              <a:buFont typeface="Wingdings" pitchFamily="2" charset="2"/>
              <a:buChar char="§"/>
            </a:pPr>
            <a:endParaRPr lang="en-US" sz="2700" smtClean="0"/>
          </a:p>
          <a:p>
            <a:pPr eaLnBrk="1" hangingPunct="1">
              <a:lnSpc>
                <a:spcPct val="80000"/>
              </a:lnSpc>
              <a:buFont typeface="Wingdings" pitchFamily="2" charset="2"/>
              <a:buChar char="§"/>
            </a:pPr>
            <a:endParaRPr lang="en-US" sz="270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smtClean="0"/>
              <a:t>METHODOLOGY</a:t>
            </a:r>
          </a:p>
        </p:txBody>
      </p:sp>
      <p:sp>
        <p:nvSpPr>
          <p:cNvPr id="7171" name="Content Placeholder 2"/>
          <p:cNvSpPr>
            <a:spLocks noGrp="1"/>
          </p:cNvSpPr>
          <p:nvPr>
            <p:ph idx="1"/>
          </p:nvPr>
        </p:nvSpPr>
        <p:spPr/>
        <p:txBody>
          <a:bodyPr/>
          <a:lstStyle/>
          <a:p>
            <a:pPr eaLnBrk="1" hangingPunct="1">
              <a:lnSpc>
                <a:spcPct val="80000"/>
              </a:lnSpc>
              <a:buFont typeface="Wingdings" pitchFamily="2" charset="2"/>
              <a:buNone/>
            </a:pPr>
            <a:r>
              <a:rPr lang="en-US" sz="2200" smtClean="0">
                <a:latin typeface="Times New Roman" pitchFamily="18" charset="0"/>
                <a:cs typeface="Times New Roman" pitchFamily="18" charset="0"/>
              </a:rPr>
              <a:t>  </a:t>
            </a:r>
          </a:p>
          <a:p>
            <a:pPr eaLnBrk="1" hangingPunct="1">
              <a:lnSpc>
                <a:spcPct val="80000"/>
              </a:lnSpc>
              <a:buFont typeface="Wingdings" pitchFamily="2" charset="2"/>
              <a:buChar char="Ø"/>
            </a:pPr>
            <a:r>
              <a:rPr lang="en-US" sz="2200" smtClean="0">
                <a:latin typeface="Times New Roman" pitchFamily="18" charset="0"/>
                <a:cs typeface="Times New Roman" pitchFamily="18" charset="0"/>
              </a:rPr>
              <a:t>The Unified Modeling Language for the design</a:t>
            </a:r>
          </a:p>
          <a:p>
            <a:pPr eaLnBrk="1" hangingPunct="1">
              <a:lnSpc>
                <a:spcPct val="80000"/>
              </a:lnSpc>
              <a:buFont typeface="Wingdings" pitchFamily="2" charset="2"/>
              <a:buChar char="Ø"/>
            </a:pPr>
            <a:endParaRPr lang="en-US" sz="2200" smtClean="0">
              <a:latin typeface="Times New Roman" pitchFamily="18" charset="0"/>
              <a:cs typeface="Times New Roman" pitchFamily="18" charset="0"/>
            </a:endParaRPr>
          </a:p>
          <a:p>
            <a:pPr eaLnBrk="1" hangingPunct="1">
              <a:lnSpc>
                <a:spcPct val="80000"/>
              </a:lnSpc>
              <a:buFont typeface="Wingdings" pitchFamily="2" charset="2"/>
              <a:buChar char="Ø"/>
            </a:pPr>
            <a:r>
              <a:rPr lang="en-US" sz="2200" smtClean="0">
                <a:latin typeface="Times New Roman" pitchFamily="18" charset="0"/>
                <a:cs typeface="Times New Roman" pitchFamily="18" charset="0"/>
              </a:rPr>
              <a:t>The Java2 SE (Standard Edition) to implement the design</a:t>
            </a:r>
          </a:p>
          <a:p>
            <a:pPr eaLnBrk="1" hangingPunct="1">
              <a:lnSpc>
                <a:spcPct val="80000"/>
              </a:lnSpc>
            </a:pPr>
            <a:endParaRPr lang="en-US" sz="2200" smtClean="0">
              <a:latin typeface="Times New Roman" pitchFamily="18" charset="0"/>
              <a:cs typeface="Times New Roman" pitchFamily="18" charset="0"/>
            </a:endParaRPr>
          </a:p>
          <a:p>
            <a:pPr eaLnBrk="1" hangingPunct="1">
              <a:lnSpc>
                <a:spcPct val="80000"/>
              </a:lnSpc>
            </a:pPr>
            <a:endParaRPr lang="en-US" sz="2200" smtClean="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smtClean="0"/>
              <a:t>LITERATURE REVIEW</a:t>
            </a:r>
          </a:p>
        </p:txBody>
      </p:sp>
      <p:sp>
        <p:nvSpPr>
          <p:cNvPr id="8195" name="Content Placeholder 2"/>
          <p:cNvSpPr>
            <a:spLocks noGrp="1"/>
          </p:cNvSpPr>
          <p:nvPr>
            <p:ph idx="1"/>
          </p:nvPr>
        </p:nvSpPr>
        <p:spPr/>
        <p:txBody>
          <a:bodyPr/>
          <a:lstStyle/>
          <a:p>
            <a:pPr eaLnBrk="1" hangingPunct="1"/>
            <a:r>
              <a:rPr lang="en-US" smtClean="0"/>
              <a:t>The development of MathParser (Murray, 2009), who under-studied previous work done in the field by Graham,1975.</a:t>
            </a:r>
          </a:p>
          <a:p>
            <a:pPr eaLnBrk="1" hangingPunct="1"/>
            <a:r>
              <a:rPr lang="en-US" smtClean="0"/>
              <a:t>The MathWorks.Inc,1984 developed the all-popular MatLab software for easing solutions to mathematical problems.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304800"/>
            <a:ext cx="8229600" cy="1143000"/>
          </a:xfrm>
        </p:spPr>
        <p:txBody>
          <a:bodyPr/>
          <a:lstStyle/>
          <a:p>
            <a:pPr eaLnBrk="1" hangingPunct="1"/>
            <a:r>
              <a:rPr lang="en-US" smtClean="0">
                <a:latin typeface="Times New Roman" pitchFamily="18" charset="0"/>
                <a:cs typeface="Times New Roman" pitchFamily="18" charset="0"/>
              </a:rPr>
              <a:t>SYSTEM DESIGN</a:t>
            </a:r>
          </a:p>
        </p:txBody>
      </p:sp>
      <p:pic>
        <p:nvPicPr>
          <p:cNvPr id="9219" name="Content Placeholder 4" descr="CASE DIAGRAM.png"/>
          <p:cNvPicPr>
            <a:picLocks noGrp="1" noChangeAspect="1"/>
          </p:cNvPicPr>
          <p:nvPr>
            <p:ph idx="1"/>
          </p:nvPr>
        </p:nvPicPr>
        <p:blipFill>
          <a:blip r:embed="rId3"/>
          <a:srcRect/>
          <a:stretch>
            <a:fillRect/>
          </a:stretch>
        </p:blipFill>
        <p:spPr>
          <a:xfrm>
            <a:off x="1828800" y="1219200"/>
            <a:ext cx="5453063" cy="4906963"/>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mtClean="0"/>
              <a:t> </a:t>
            </a:r>
          </a:p>
        </p:txBody>
      </p:sp>
      <p:pic>
        <p:nvPicPr>
          <p:cNvPr id="10243" name="Content Placeholder 3" descr="Activity Diagram.png"/>
          <p:cNvPicPr>
            <a:picLocks noGrp="1" noChangeAspect="1"/>
          </p:cNvPicPr>
          <p:nvPr>
            <p:ph idx="1"/>
          </p:nvPr>
        </p:nvPicPr>
        <p:blipFill>
          <a:blip r:embed="rId3"/>
          <a:srcRect/>
          <a:stretch>
            <a:fillRect/>
          </a:stretch>
        </p:blipFill>
        <p:spPr>
          <a:xfrm>
            <a:off x="896938" y="381000"/>
            <a:ext cx="6985000" cy="5715000"/>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smtClean="0">
                <a:latin typeface="Times New Roman" pitchFamily="18" charset="0"/>
                <a:cs typeface="Times New Roman" pitchFamily="18" charset="0"/>
              </a:rPr>
              <a:t>CONCLUSION</a:t>
            </a:r>
          </a:p>
        </p:txBody>
      </p:sp>
      <p:sp>
        <p:nvSpPr>
          <p:cNvPr id="11267" name="Content Placeholder 3"/>
          <p:cNvSpPr>
            <a:spLocks noGrp="1"/>
          </p:cNvSpPr>
          <p:nvPr>
            <p:ph idx="1"/>
          </p:nvPr>
        </p:nvSpPr>
        <p:spPr/>
        <p:txBody>
          <a:bodyPr/>
          <a:lstStyle/>
          <a:p>
            <a:r>
              <a:rPr lang="en-US" smtClean="0">
                <a:latin typeface="Andalus" pitchFamily="2" charset="-78"/>
                <a:cs typeface="Andalus" pitchFamily="2" charset="-78"/>
              </a:rPr>
              <a:t>At the end of this project, many users will be able to interact freely with this math software and solve mathematical problems with minimal need to learn the software usage syntax from scratch.</a:t>
            </a:r>
          </a:p>
          <a:p>
            <a:endParaRPr lang="en-US" smtClean="0">
              <a:latin typeface="Andalus" pitchFamily="2" charset="-78"/>
              <a:cs typeface="Andalus" pitchFamily="2" charset="-78"/>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381000"/>
            <a:ext cx="8229600" cy="1143000"/>
          </a:xfrm>
        </p:spPr>
        <p:txBody>
          <a:bodyPr/>
          <a:lstStyle/>
          <a:p>
            <a:pPr eaLnBrk="1" hangingPunct="1"/>
            <a:r>
              <a:rPr lang="en-US" smtClean="0"/>
              <a:t> </a:t>
            </a:r>
          </a:p>
        </p:txBody>
      </p:sp>
      <p:sp>
        <p:nvSpPr>
          <p:cNvPr id="12291" name="Content Placeholder 2"/>
          <p:cNvSpPr>
            <a:spLocks noGrp="1"/>
          </p:cNvSpPr>
          <p:nvPr>
            <p:ph idx="1"/>
          </p:nvPr>
        </p:nvSpPr>
        <p:spPr/>
        <p:txBody>
          <a:bodyPr/>
          <a:lstStyle/>
          <a:p>
            <a:pPr eaLnBrk="1" hangingPunct="1"/>
            <a:endParaRPr lang="en-US" smtClean="0">
              <a:latin typeface="Times New Roman" pitchFamily="18" charset="0"/>
              <a:cs typeface="Times New Roman" pitchFamily="18" charset="0"/>
            </a:endParaRPr>
          </a:p>
          <a:p>
            <a:pPr eaLnBrk="1" hangingPunct="1"/>
            <a:endParaRPr lang="en-US" smtClean="0">
              <a:latin typeface="Times New Roman" pitchFamily="18" charset="0"/>
              <a:cs typeface="Times New Roman" pitchFamily="18" charset="0"/>
            </a:endParaRPr>
          </a:p>
          <a:p>
            <a:pPr eaLnBrk="1" hangingPunct="1">
              <a:buFont typeface="Arial" pitchFamily="34" charset="0"/>
              <a:buNone/>
            </a:pPr>
            <a:r>
              <a:rPr lang="en-US" smtClean="0">
                <a:latin typeface="Times New Roman" pitchFamily="18" charset="0"/>
                <a:cs typeface="Times New Roman" pitchFamily="18" charset="0"/>
              </a:rPr>
              <a:t>                THANKS FOR LISTENING!!</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3245</TotalTime>
  <Words>315</Words>
  <Application>Microsoft Office PowerPoint</Application>
  <PresentationFormat>On-screen Show (4:3)</PresentationFormat>
  <Paragraphs>53</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Times New Roman</vt:lpstr>
      <vt:lpstr>Wingdings</vt:lpstr>
      <vt:lpstr>Andalus</vt:lpstr>
      <vt:lpstr>Office Theme</vt:lpstr>
      <vt:lpstr>DEVELOPMENT  OF A PLAIN INPUT MATHEMATICAL COMPUTING FRAMEWORK.  PRESENTED BY:  JIBOYE Oluwagbemiro Olaoluwa           CSC/2005/089  AUGUST, 2010. </vt:lpstr>
      <vt:lpstr>OUTLINE</vt:lpstr>
      <vt:lpstr>PROBLEM DEFINITION</vt:lpstr>
      <vt:lpstr>PROJECT JUSTIFICATION</vt:lpstr>
      <vt:lpstr>AIM AND OBJECTIVES</vt:lpstr>
      <vt:lpstr>METHODOLOGY</vt:lpstr>
      <vt:lpstr>LITERATURE REVIEW</vt:lpstr>
      <vt:lpstr>SYSTEM DESIGN</vt:lpstr>
      <vt:lpstr> </vt:lpstr>
      <vt:lpstr>CONCLUSION</vt:lpstr>
      <vt:lpstr> </vt:lpstr>
    </vt:vector>
  </TitlesOfParts>
  <Company>G-SOFT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GBENRO</dc:creator>
  <cp:lastModifiedBy>MRSJIBOYE</cp:lastModifiedBy>
  <cp:revision>272</cp:revision>
  <dcterms:created xsi:type="dcterms:W3CDTF">2010-08-16T19:10:57Z</dcterms:created>
  <dcterms:modified xsi:type="dcterms:W3CDTF">2011-08-18T15:08:41Z</dcterms:modified>
</cp:coreProperties>
</file>