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sldIdLst>
    <p:sldId id="257" r:id="rId2"/>
    <p:sldId id="258" r:id="rId3"/>
    <p:sldId id="259" r:id="rId4"/>
    <p:sldId id="260" r:id="rId5"/>
    <p:sldId id="261" r:id="rId6"/>
    <p:sldId id="262" r:id="rId7"/>
    <p:sldId id="263" r:id="rId8"/>
    <p:sldId id="280" r:id="rId9"/>
    <p:sldId id="264" r:id="rId10"/>
    <p:sldId id="266" r:id="rId11"/>
    <p:sldId id="267" r:id="rId12"/>
    <p:sldId id="276" r:id="rId13"/>
    <p:sldId id="277" r:id="rId14"/>
    <p:sldId id="268" r:id="rId15"/>
    <p:sldId id="269" r:id="rId16"/>
    <p:sldId id="270" r:id="rId17"/>
    <p:sldId id="272" r:id="rId18"/>
    <p:sldId id="273" r:id="rId19"/>
    <p:sldId id="274" r:id="rId20"/>
    <p:sldId id="275" r:id="rId21"/>
    <p:sldId id="278" r:id="rId22"/>
    <p:sldId id="27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6938" autoAdjust="0"/>
  </p:normalViewPr>
  <p:slideViewPr>
    <p:cSldViewPr>
      <p:cViewPr varScale="1">
        <p:scale>
          <a:sx n="42" d="100"/>
          <a:sy n="42" d="100"/>
        </p:scale>
        <p:origin x="-129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25ADCC6-3E78-44F0-B26E-D2FA9ACFFACA}" type="datetimeFigureOut">
              <a:rPr lang="en-US" smtClean="0"/>
              <a:pPr/>
              <a:t>12/13/2010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9B4EE1-A008-4E59-9D73-1D00DD49A6A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p:spPr>
      </p:sp>
      <p:sp>
        <p:nvSpPr>
          <p:cNvPr id="215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
        <p:nvSpPr>
          <p:cNvPr id="2969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9FB2ED9-9892-4016-A3D5-79FEC4244FDF}" type="slidenum">
              <a:rPr lang="en-US" smtClean="0">
                <a:cs typeface="Arial" charset="0"/>
              </a:rPr>
              <a:pPr fontAlgn="base">
                <a:spcBef>
                  <a:spcPct val="0"/>
                </a:spcBef>
                <a:spcAft>
                  <a:spcPct val="0"/>
                </a:spcAft>
                <a:defRPr/>
              </a:pPr>
              <a:t>10</a:t>
            </a:fld>
            <a:endParaRPr lang="en-US" smtClean="0">
              <a:cs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C9B4EE1-A008-4E59-9D73-1D00DD49A6A1}"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B9C0BB1-477F-4295-A718-ACDBDD8D3DDA}" type="datetimeFigureOut">
              <a:rPr lang="en-US" smtClean="0"/>
              <a:pPr/>
              <a:t>12/13/2010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FD0A1-CFC4-4AF1-A752-77F156AB2B3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9C0BB1-477F-4295-A718-ACDBDD8D3DDA}" type="datetimeFigureOut">
              <a:rPr lang="en-US" smtClean="0"/>
              <a:pPr/>
              <a:t>12/13/2010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FD0A1-CFC4-4AF1-A752-77F156AB2B3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B9C0BB1-477F-4295-A718-ACDBDD8D3DDA}" type="datetimeFigureOut">
              <a:rPr lang="en-US" smtClean="0"/>
              <a:pPr/>
              <a:t>12/13/2010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FD0A1-CFC4-4AF1-A752-77F156AB2B3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B9C0BB1-477F-4295-A718-ACDBDD8D3DDA}" type="datetimeFigureOut">
              <a:rPr lang="en-US" smtClean="0"/>
              <a:pPr/>
              <a:t>12/13/2010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8FD0A1-CFC4-4AF1-A752-77F156AB2B3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B9C0BB1-477F-4295-A718-ACDBDD8D3DDA}" type="datetimeFigureOut">
              <a:rPr lang="en-US" smtClean="0"/>
              <a:pPr/>
              <a:t>12/13/2010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8FD0A1-CFC4-4AF1-A752-77F156AB2B3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B9C0BB1-477F-4295-A718-ACDBDD8D3DDA}" type="datetimeFigureOut">
              <a:rPr lang="en-US" smtClean="0"/>
              <a:pPr/>
              <a:t>12/13/2010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8FD0A1-CFC4-4AF1-A752-77F156AB2B3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9C0BB1-477F-4295-A718-ACDBDD8D3DDA}" type="datetimeFigureOut">
              <a:rPr lang="en-US" smtClean="0"/>
              <a:pPr/>
              <a:t>12/13/2010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8FD0A1-CFC4-4AF1-A752-77F156AB2B3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9C0BB1-477F-4295-A718-ACDBDD8D3DDA}" type="datetimeFigureOut">
              <a:rPr lang="en-US" smtClean="0"/>
              <a:pPr/>
              <a:t>12/13/2010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8FD0A1-CFC4-4AF1-A752-77F156AB2B3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9C0BB1-477F-4295-A718-ACDBDD8D3DDA}" type="datetimeFigureOut">
              <a:rPr lang="en-US" smtClean="0"/>
              <a:pPr/>
              <a:t>12/13/2010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8FD0A1-CFC4-4AF1-A752-77F156AB2B3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9C0BB1-477F-4295-A718-ACDBDD8D3DDA}" type="datetimeFigureOut">
              <a:rPr lang="en-US" smtClean="0"/>
              <a:pPr/>
              <a:t>12/13/2010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FD0A1-CFC4-4AF1-A752-77F156AB2B3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9C0BB1-477F-4295-A718-ACDBDD8D3DDA}" type="datetimeFigureOut">
              <a:rPr lang="en-US" smtClean="0"/>
              <a:pPr/>
              <a:t>12/13/2010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8FD0A1-CFC4-4AF1-A752-77F156AB2B3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9C0BB1-477F-4295-A718-ACDBDD8D3DDA}" type="datetimeFigureOut">
              <a:rPr lang="en-US" smtClean="0"/>
              <a:pPr/>
              <a:t>12/13/2010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8FD0A1-CFC4-4AF1-A752-77F156AB2B3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600"/>
            <a:ext cx="6858000" cy="76200"/>
          </a:xfrm>
        </p:spPr>
        <p:txBody>
          <a:bodyPr>
            <a:normAutofit fontScale="90000"/>
          </a:bodyPr>
          <a:lstStyle/>
          <a:p>
            <a:r>
              <a:rPr lang="en-US" dirty="0" smtClean="0"/>
              <a:t>   </a:t>
            </a:r>
            <a:endParaRPr lang="en-US" dirty="0"/>
          </a:p>
        </p:txBody>
      </p:sp>
      <p:sp>
        <p:nvSpPr>
          <p:cNvPr id="3" name="Content Placeholder 2"/>
          <p:cNvSpPr>
            <a:spLocks noGrp="1"/>
          </p:cNvSpPr>
          <p:nvPr>
            <p:ph idx="1"/>
          </p:nvPr>
        </p:nvSpPr>
        <p:spPr>
          <a:xfrm>
            <a:off x="457200" y="838200"/>
            <a:ext cx="8229600" cy="5287963"/>
          </a:xfrm>
        </p:spPr>
        <p:txBody>
          <a:bodyPr>
            <a:noAutofit/>
          </a:bodyPr>
          <a:lstStyle/>
          <a:p>
            <a:pPr algn="ctr">
              <a:buNone/>
            </a:pPr>
            <a:r>
              <a:rPr lang="en-US" sz="3600" dirty="0" smtClean="0">
                <a:latin typeface="Times New Roman" pitchFamily="18" charset="0"/>
                <a:cs typeface="Times New Roman" pitchFamily="18" charset="0"/>
              </a:rPr>
              <a:t>	DEVELOPMENT OF A PLAIN INPUT       MATHEMATICAL   COMPUTING SOFTWARE.</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PRESENTED BY:</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 JIBOYE Oluwagbemiro Olaoluwa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CSC/2005/089</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AUGUST, 2010.</a:t>
            </a:r>
            <a:endParaRPr lang="en-US" sz="3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pPr marL="514350" indent="-514350">
              <a:spcBef>
                <a:spcPct val="0"/>
              </a:spcBef>
              <a:buFont typeface="Calibri" pitchFamily="34" charset="0"/>
              <a:buAutoNum type="arabicPeriod"/>
            </a:pPr>
            <a:r>
              <a:rPr lang="en-US" dirty="0" smtClean="0">
                <a:latin typeface="Times New Roman" pitchFamily="18" charset="0"/>
                <a:cs typeface="Times New Roman" pitchFamily="18" charset="0"/>
              </a:rPr>
              <a:t>Problem Definition</a:t>
            </a:r>
          </a:p>
          <a:p>
            <a:pPr marL="514350" indent="-514350">
              <a:spcBef>
                <a:spcPct val="0"/>
              </a:spcBef>
              <a:buFont typeface="Calibri" pitchFamily="34" charset="0"/>
              <a:buAutoNum type="arabicPeriod"/>
            </a:pPr>
            <a:r>
              <a:rPr lang="en-US" dirty="0" smtClean="0">
                <a:latin typeface="Times New Roman" pitchFamily="18" charset="0"/>
                <a:cs typeface="Times New Roman" pitchFamily="18" charset="0"/>
              </a:rPr>
              <a:t>Scope of Study</a:t>
            </a:r>
          </a:p>
          <a:p>
            <a:pPr marL="514350" indent="-514350">
              <a:spcBef>
                <a:spcPct val="0"/>
              </a:spcBef>
              <a:buFont typeface="Calibri" pitchFamily="34" charset="0"/>
              <a:buAutoNum type="arabicPeriod"/>
            </a:pPr>
            <a:r>
              <a:rPr lang="en-US" dirty="0" smtClean="0">
                <a:latin typeface="Times New Roman" pitchFamily="18" charset="0"/>
                <a:cs typeface="Times New Roman" pitchFamily="18" charset="0"/>
              </a:rPr>
              <a:t>Project Justification</a:t>
            </a:r>
          </a:p>
          <a:p>
            <a:pPr marL="514350" indent="-514350">
              <a:spcBef>
                <a:spcPct val="0"/>
              </a:spcBef>
              <a:buFont typeface="Calibri" pitchFamily="34" charset="0"/>
              <a:buAutoNum type="arabicPeriod"/>
            </a:pPr>
            <a:r>
              <a:rPr lang="en-US" dirty="0" smtClean="0">
                <a:latin typeface="Times New Roman" pitchFamily="18" charset="0"/>
                <a:cs typeface="Times New Roman" pitchFamily="18" charset="0"/>
              </a:rPr>
              <a:t>Aim and Objectives</a:t>
            </a:r>
          </a:p>
          <a:p>
            <a:pPr marL="514350" indent="-514350">
              <a:spcBef>
                <a:spcPct val="0"/>
              </a:spcBef>
              <a:buFont typeface="Calibri" pitchFamily="34" charset="0"/>
              <a:buAutoNum type="arabicPeriod"/>
            </a:pPr>
            <a:r>
              <a:rPr lang="en-US" dirty="0" smtClean="0">
                <a:latin typeface="Times New Roman" pitchFamily="18" charset="0"/>
                <a:cs typeface="Times New Roman" pitchFamily="18" charset="0"/>
              </a:rPr>
              <a:t>Methodology</a:t>
            </a:r>
          </a:p>
          <a:p>
            <a:pPr marL="514350" indent="-514350">
              <a:spcBef>
                <a:spcPct val="0"/>
              </a:spcBef>
              <a:buFont typeface="Calibri" pitchFamily="34" charset="0"/>
              <a:buAutoNum type="arabicPeriod"/>
            </a:pPr>
            <a:r>
              <a:rPr lang="en-US" dirty="0" smtClean="0">
                <a:latin typeface="Times New Roman" pitchFamily="18" charset="0"/>
                <a:cs typeface="Times New Roman" pitchFamily="18" charset="0"/>
              </a:rPr>
              <a:t>System Design</a:t>
            </a:r>
          </a:p>
          <a:p>
            <a:pPr marL="514350" indent="-514350">
              <a:spcBef>
                <a:spcPct val="0"/>
              </a:spcBef>
              <a:buFont typeface="Calibri" pitchFamily="34" charset="0"/>
              <a:buAutoNum type="arabicPeriod"/>
            </a:pPr>
            <a:r>
              <a:rPr lang="en-US" dirty="0" smtClean="0">
                <a:latin typeface="Times New Roman" pitchFamily="18" charset="0"/>
                <a:cs typeface="Times New Roman" pitchFamily="18" charset="0"/>
              </a:rPr>
              <a:t>Project Results.</a:t>
            </a:r>
          </a:p>
          <a:p>
            <a:pPr marL="514350" indent="-514350">
              <a:spcBef>
                <a:spcPct val="0"/>
              </a:spcBef>
              <a:buFont typeface="Calibri" pitchFamily="34" charset="0"/>
              <a:buAutoNum type="arabicPeriod"/>
            </a:pPr>
            <a:r>
              <a:rPr lang="en-US" dirty="0" smtClean="0">
                <a:latin typeface="Times New Roman" pitchFamily="18" charset="0"/>
                <a:cs typeface="Times New Roman" pitchFamily="18" charset="0"/>
              </a:rPr>
              <a:t>Literature Review</a:t>
            </a:r>
          </a:p>
          <a:p>
            <a:pPr marL="514350" indent="-514350">
              <a:spcBef>
                <a:spcPct val="0"/>
              </a:spcBef>
              <a:buFont typeface="Calibri" pitchFamily="34" charset="0"/>
              <a:buAutoNum type="arabicPeriod"/>
            </a:pPr>
            <a:r>
              <a:rPr lang="en-US" dirty="0" smtClean="0">
                <a:latin typeface="Times New Roman" pitchFamily="18" charset="0"/>
                <a:cs typeface="Times New Roman" pitchFamily="18" charset="0"/>
              </a:rPr>
              <a:t>Conclusion.</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DEFINITION</a:t>
            </a:r>
            <a:endParaRPr lang="en-US" dirty="0"/>
          </a:p>
        </p:txBody>
      </p:sp>
      <p:sp>
        <p:nvSpPr>
          <p:cNvPr id="3" name="Content Placeholder 2"/>
          <p:cNvSpPr>
            <a:spLocks noGrp="1"/>
          </p:cNvSpPr>
          <p:nvPr>
            <p:ph idx="1"/>
          </p:nvPr>
        </p:nvSpPr>
        <p:spPr/>
        <p:txBody>
          <a:bodyPr/>
          <a:lstStyle/>
          <a:p>
            <a:r>
              <a:rPr lang="en-US" dirty="0" smtClean="0"/>
              <a:t>Software users find it inconvenient to learn difficult command syntax before they start using a mathematical computing software application. This project helps them by introducing a mathematical computing software application that uses highly convenient syntax to represent mathematical expression input and then solve them.</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OF STUDY</a:t>
            </a:r>
            <a:endParaRPr lang="en-US" dirty="0"/>
          </a:p>
        </p:txBody>
      </p:sp>
      <p:sp>
        <p:nvSpPr>
          <p:cNvPr id="3" name="Content Placeholder 2"/>
          <p:cNvSpPr>
            <a:spLocks noGrp="1"/>
          </p:cNvSpPr>
          <p:nvPr>
            <p:ph idx="1"/>
          </p:nvPr>
        </p:nvSpPr>
        <p:spPr/>
        <p:txBody>
          <a:bodyPr/>
          <a:lstStyle/>
          <a:p>
            <a:r>
              <a:rPr lang="en-US" dirty="0" smtClean="0"/>
              <a:t>Development of application software for plain input mathematical computations.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JUSTIFICATION</a:t>
            </a:r>
            <a:endParaRPr lang="en-US" dirty="0"/>
          </a:p>
        </p:txBody>
      </p:sp>
      <p:sp>
        <p:nvSpPr>
          <p:cNvPr id="3" name="Content Placeholder 2"/>
          <p:cNvSpPr>
            <a:spLocks noGrp="1"/>
          </p:cNvSpPr>
          <p:nvPr>
            <p:ph idx="1"/>
          </p:nvPr>
        </p:nvSpPr>
        <p:spPr/>
        <p:txBody>
          <a:bodyPr/>
          <a:lstStyle/>
          <a:p>
            <a:r>
              <a:rPr lang="en-US" dirty="0" smtClean="0"/>
              <a:t> The productivity of a user on a given software system is dependent on the user’s understanding of how to perform input and receive output from the software. This understanding directly maps onto the ease of performing input into the system.</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AIM AND OBJECTIVES</a:t>
            </a:r>
            <a:endParaRPr lang="en-US" dirty="0"/>
          </a:p>
        </p:txBody>
      </p:sp>
      <p:sp>
        <p:nvSpPr>
          <p:cNvPr id="3" name="Content Placeholder 2"/>
          <p:cNvSpPr>
            <a:spLocks noGrp="1"/>
          </p:cNvSpPr>
          <p:nvPr>
            <p:ph idx="1"/>
          </p:nvPr>
        </p:nvSpPr>
        <p:spPr/>
        <p:txBody>
          <a:bodyPr>
            <a:normAutofit/>
          </a:bodyPr>
          <a:lstStyle/>
          <a:p>
            <a:pPr>
              <a:lnSpc>
                <a:spcPct val="80000"/>
              </a:lnSpc>
              <a:buFont typeface="Wingdings" pitchFamily="2" charset="2"/>
              <a:buChar char="Ø"/>
            </a:pPr>
            <a:r>
              <a:rPr lang="en-US" dirty="0" smtClean="0">
                <a:latin typeface="Times New Roman" pitchFamily="18" charset="0"/>
                <a:cs typeface="Times New Roman" pitchFamily="18" charset="0"/>
              </a:rPr>
              <a:t>The aim is to develop a mathematical software that solves diverse mathematical problems, using plain expressions as input.</a:t>
            </a:r>
          </a:p>
          <a:p>
            <a:pPr>
              <a:lnSpc>
                <a:spcPct val="80000"/>
              </a:lnSpc>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The objectives are to:</a:t>
            </a:r>
          </a:p>
          <a:p>
            <a:pPr>
              <a:lnSpc>
                <a:spcPct val="80000"/>
              </a:lnSpc>
              <a:buFont typeface="Wingdings" pitchFamily="2" charset="2"/>
              <a:buChar char="ü"/>
            </a:pPr>
            <a:r>
              <a:rPr lang="en-US" dirty="0" smtClean="0">
                <a:latin typeface="Times New Roman" pitchFamily="18" charset="0"/>
                <a:cs typeface="Times New Roman" pitchFamily="18" charset="0"/>
              </a:rPr>
              <a:t>design a system of mathematical parsers, each one having a specific target mathematical problem which it will solve. </a:t>
            </a:r>
          </a:p>
          <a:p>
            <a:pPr>
              <a:lnSpc>
                <a:spcPct val="80000"/>
              </a:lnSpc>
              <a:buFont typeface="Wingdings" pitchFamily="2" charset="2"/>
              <a:buChar char="ü"/>
            </a:pPr>
            <a:r>
              <a:rPr lang="en-US" dirty="0" smtClean="0">
                <a:latin typeface="Times New Roman" pitchFamily="18" charset="0"/>
                <a:cs typeface="Times New Roman" pitchFamily="18" charset="0"/>
              </a:rPr>
              <a:t>design a mathematical interface through which the user will interact with the parsers.</a:t>
            </a:r>
          </a:p>
          <a:p>
            <a:pPr>
              <a:lnSpc>
                <a:spcPct val="80000"/>
              </a:lnSpc>
              <a:buFont typeface="Wingdings" pitchFamily="2" charset="2"/>
              <a:buChar char="ü"/>
            </a:pPr>
            <a:r>
              <a:rPr lang="en-US" dirty="0" smtClean="0">
                <a:latin typeface="Times New Roman" pitchFamily="18" charset="0"/>
                <a:cs typeface="Times New Roman" pitchFamily="18" charset="0"/>
              </a:rPr>
              <a:t>implement the two designs above.</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a:t>
            </a:r>
            <a:endParaRPr lang="en-US" dirty="0"/>
          </a:p>
        </p:txBody>
      </p:sp>
      <p:sp>
        <p:nvSpPr>
          <p:cNvPr id="3" name="Content Placeholder 2"/>
          <p:cNvSpPr>
            <a:spLocks noGrp="1"/>
          </p:cNvSpPr>
          <p:nvPr>
            <p:ph idx="1"/>
          </p:nvPr>
        </p:nvSpPr>
        <p:spPr/>
        <p:txBody>
          <a:bodyPr/>
          <a:lstStyle/>
          <a:p>
            <a:pPr marL="609600" indent="-609600">
              <a:buFont typeface="Wingdings" pitchFamily="2" charset="2"/>
              <a:buChar char="ü"/>
            </a:pPr>
            <a:r>
              <a:rPr lang="en-GB" dirty="0" smtClean="0">
                <a:latin typeface="Andalus" pitchFamily="2" charset="-78"/>
                <a:cs typeface="Andalus" pitchFamily="2" charset="-78"/>
              </a:rPr>
              <a:t>Rapid application development methodology</a:t>
            </a:r>
          </a:p>
          <a:p>
            <a:pPr marL="609600" indent="-609600">
              <a:buFont typeface="Wingdings" pitchFamily="2" charset="2"/>
              <a:buChar char="ü"/>
            </a:pPr>
            <a:r>
              <a:rPr lang="en-GB" dirty="0" smtClean="0">
                <a:latin typeface="Andalus" pitchFamily="2" charset="-78"/>
                <a:cs typeface="Andalus" pitchFamily="2" charset="-78"/>
              </a:rPr>
              <a:t> UML-Modules</a:t>
            </a:r>
          </a:p>
          <a:p>
            <a:pPr marL="609600" indent="-609600">
              <a:buFont typeface="Wingdings" pitchFamily="2" charset="2"/>
              <a:buChar char="ü"/>
            </a:pPr>
            <a:r>
              <a:rPr lang="en-GB" dirty="0" smtClean="0">
                <a:latin typeface="Andalus" pitchFamily="2" charset="-78"/>
                <a:cs typeface="Andalus" pitchFamily="2" charset="-78"/>
              </a:rPr>
              <a:t>J2SE</a:t>
            </a:r>
            <a:endParaRPr lang="yo-NG" dirty="0" smtClean="0">
              <a:latin typeface="Andalus" pitchFamily="2" charset="-78"/>
              <a:cs typeface="Andalus" pitchFamily="2" charset="-78"/>
            </a:endParaRP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LITERATURE REVIEW</a:t>
            </a:r>
            <a:endParaRPr lang="en-GB" dirty="0"/>
          </a:p>
        </p:txBody>
      </p:sp>
      <p:sp>
        <p:nvSpPr>
          <p:cNvPr id="3" name="Content Placeholder 2"/>
          <p:cNvSpPr>
            <a:spLocks noGrp="1"/>
          </p:cNvSpPr>
          <p:nvPr>
            <p:ph idx="1"/>
          </p:nvPr>
        </p:nvSpPr>
        <p:spPr/>
        <p:txBody>
          <a:bodyPr/>
          <a:lstStyle/>
          <a:p>
            <a:r>
              <a:rPr lang="en-US" dirty="0" smtClean="0"/>
              <a:t>The development of </a:t>
            </a:r>
            <a:r>
              <a:rPr lang="en-US" dirty="0" err="1" smtClean="0"/>
              <a:t>MathParser</a:t>
            </a:r>
            <a:r>
              <a:rPr lang="en-US" dirty="0" smtClean="0"/>
              <a:t> (Murray, 2009), who under-studied previous work done in the field by Graham,1975.</a:t>
            </a:r>
          </a:p>
          <a:p>
            <a:r>
              <a:rPr lang="en-US" dirty="0" smtClean="0"/>
              <a:t>The MathWorks.Inc,1984 developed the all-popular </a:t>
            </a:r>
            <a:r>
              <a:rPr lang="en-US" dirty="0" err="1" smtClean="0"/>
              <a:t>MatLab</a:t>
            </a:r>
            <a:r>
              <a:rPr lang="en-US" dirty="0" smtClean="0"/>
              <a:t> software for easing solutions to mathematical problems.</a:t>
            </a:r>
          </a:p>
          <a:p>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258762"/>
          </a:xfrm>
        </p:spPr>
        <p:txBody>
          <a:bodyPr>
            <a:normAutofit fontScale="90000"/>
          </a:bodyPr>
          <a:lstStyle/>
          <a:p>
            <a:r>
              <a:rPr lang="en-US" dirty="0" smtClean="0"/>
              <a:t>  </a:t>
            </a:r>
            <a:endParaRPr lang="en-US" dirty="0"/>
          </a:p>
        </p:txBody>
      </p:sp>
      <p:pic>
        <p:nvPicPr>
          <p:cNvPr id="4" name="Picture 2" descr="schach010"/>
          <p:cNvPicPr>
            <a:picLocks noGrp="1" noChangeAspect="1" noChangeArrowheads="1"/>
          </p:cNvPicPr>
          <p:nvPr>
            <p:ph idx="1"/>
          </p:nvPr>
        </p:nvPicPr>
        <p:blipFill>
          <a:blip r:embed="rId3">
            <a:duotone>
              <a:prstClr val="black"/>
              <a:schemeClr val="accent3">
                <a:tint val="45000"/>
                <a:satMod val="400000"/>
              </a:schemeClr>
            </a:duotone>
          </a:blip>
          <a:srcRect t="12860" b="9850"/>
          <a:stretch>
            <a:fillRect/>
          </a:stretch>
        </p:blipFill>
        <p:spPr bwMode="auto">
          <a:xfrm>
            <a:off x="609600" y="0"/>
            <a:ext cx="7773744" cy="6697395"/>
          </a:xfrm>
          <a:prstGeom prst="rect">
            <a:avLst/>
          </a:prstGeom>
          <a:noFill/>
          <a:ln w="9525">
            <a:noFill/>
            <a:miter lim="800000"/>
            <a:headEnd/>
            <a:tailEnd/>
          </a:ln>
          <a:scene3d>
            <a:camera prst="orthographicFront"/>
            <a:lightRig rig="threePt" dir="t"/>
          </a:scene3d>
          <a:sp3d>
            <a:bevelT w="139700" h="139700" prst="divot"/>
            <a:bevelB prst="slope"/>
          </a:sp3d>
        </p:spPr>
      </p:pic>
      <p:sp>
        <p:nvSpPr>
          <p:cNvPr id="5" name="Rectangle 4"/>
          <p:cNvSpPr/>
          <p:nvPr/>
        </p:nvSpPr>
        <p:spPr>
          <a:xfrm>
            <a:off x="6705600" y="1752600"/>
            <a:ext cx="1371600" cy="923330"/>
          </a:xfrm>
          <a:prstGeom prst="rect">
            <a:avLst/>
          </a:prstGeom>
        </p:spPr>
        <p:txBody>
          <a:bodyPr wrap="square">
            <a:spAutoFit/>
          </a:bodyPr>
          <a:lstStyle/>
          <a:p>
            <a:r>
              <a:rPr lang="en-US" dirty="0" smtClean="0">
                <a:latin typeface="Arial Narrow" pitchFamily="34" charset="0"/>
              </a:rPr>
              <a:t>Rapid Application    Development</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304800"/>
            <a:ext cx="8229600" cy="304800"/>
          </a:xfrm>
        </p:spPr>
        <p:txBody>
          <a:bodyPr>
            <a:normAutofit fontScale="90000"/>
          </a:bodyPr>
          <a:lstStyle/>
          <a:p>
            <a:pPr eaLnBrk="1" hangingPunct="1"/>
            <a:r>
              <a:rPr lang="en-US" dirty="0" smtClean="0">
                <a:latin typeface="Times New Roman" pitchFamily="18" charset="0"/>
                <a:cs typeface="Times New Roman" pitchFamily="18" charset="0"/>
              </a:rPr>
              <a:t>SYSTEM DESIGN</a:t>
            </a:r>
          </a:p>
        </p:txBody>
      </p:sp>
      <p:pic>
        <p:nvPicPr>
          <p:cNvPr id="5" name="Content Placeholder 4" descr="Class Diagram.png"/>
          <p:cNvPicPr>
            <a:picLocks noGrp="1" noChangeAspect="1"/>
          </p:cNvPicPr>
          <p:nvPr>
            <p:ph idx="1"/>
          </p:nvPr>
        </p:nvPicPr>
        <p:blipFill>
          <a:blip r:embed="rId3"/>
          <a:stretch>
            <a:fillRect/>
          </a:stretch>
        </p:blipFill>
        <p:spPr>
          <a:xfrm>
            <a:off x="152401" y="762000"/>
            <a:ext cx="8839199" cy="5943600"/>
          </a:xfr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82562"/>
          </a:xfrm>
        </p:spPr>
        <p:txBody>
          <a:bodyPr>
            <a:normAutofit fontScale="90000"/>
          </a:bodyPr>
          <a:lstStyle/>
          <a:p>
            <a:r>
              <a:rPr lang="en-US" dirty="0" smtClean="0"/>
              <a:t> </a:t>
            </a:r>
            <a:endParaRPr lang="en-US" dirty="0"/>
          </a:p>
        </p:txBody>
      </p:sp>
      <p:pic>
        <p:nvPicPr>
          <p:cNvPr id="4" name="Content Placeholder 3" descr="Activity Diagram.png"/>
          <p:cNvPicPr>
            <a:picLocks noGrp="1" noChangeAspect="1"/>
          </p:cNvPicPr>
          <p:nvPr>
            <p:ph idx="1"/>
          </p:nvPr>
        </p:nvPicPr>
        <p:blipFill>
          <a:blip r:embed="rId3"/>
          <a:srcRect/>
          <a:stretch>
            <a:fillRect/>
          </a:stretch>
        </p:blipFill>
        <p:spPr>
          <a:xfrm>
            <a:off x="990600" y="381000"/>
            <a:ext cx="7459133" cy="6102927"/>
          </a:xfrm>
          <a:scene3d>
            <a:camera prst="orthographicFront"/>
            <a:lightRig rig="threePt" dir="t"/>
          </a:scene3d>
          <a:sp3d>
            <a:bevelT w="114300" prst="artDeco"/>
            <a:bevelB w="139700" h="139700" prst="divot"/>
          </a:sp3d>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RESULTS</a:t>
            </a:r>
            <a:endParaRPr lang="en-US" dirty="0"/>
          </a:p>
        </p:txBody>
      </p:sp>
      <p:sp>
        <p:nvSpPr>
          <p:cNvPr id="3" name="Content Placeholder 2"/>
          <p:cNvSpPr>
            <a:spLocks noGrp="1"/>
          </p:cNvSpPr>
          <p:nvPr>
            <p:ph idx="1"/>
          </p:nvPr>
        </p:nvSpPr>
        <p:spPr/>
        <p:txBody>
          <a:bodyPr/>
          <a:lstStyle/>
          <a:p>
            <a:r>
              <a:rPr lang="en-US" dirty="0" smtClean="0"/>
              <a:t>Some images that follow show the output of the system. They represent in </a:t>
            </a:r>
            <a:r>
              <a:rPr lang="en-US" err="1" smtClean="0"/>
              <a:t>order</a:t>
            </a:r>
            <a:r>
              <a:rPr lang="en-US" smtClean="0"/>
              <a:t>:</a:t>
            </a:r>
          </a:p>
          <a:p>
            <a:pPr>
              <a:buFont typeface="Wingdings" pitchFamily="2" charset="2"/>
              <a:buChar char="Ø"/>
            </a:pPr>
            <a:r>
              <a:rPr lang="en-US" smtClean="0"/>
              <a:t>The </a:t>
            </a:r>
            <a:r>
              <a:rPr lang="en-US" dirty="0" smtClean="0"/>
              <a:t>NetBeans IDE used to code the system.</a:t>
            </a:r>
          </a:p>
          <a:p>
            <a:pPr>
              <a:buFont typeface="Wingdings" pitchFamily="2" charset="2"/>
              <a:buChar char="Ø"/>
            </a:pPr>
            <a:r>
              <a:rPr lang="en-US" dirty="0" smtClean="0"/>
              <a:t>The system’s splash screen.</a:t>
            </a:r>
          </a:p>
          <a:p>
            <a:pPr>
              <a:buFont typeface="Wingdings" pitchFamily="2" charset="2"/>
              <a:buChar char="Ø"/>
            </a:pPr>
            <a:r>
              <a:rPr lang="en-US" dirty="0" smtClean="0"/>
              <a:t>The system in its initial state (No Input).</a:t>
            </a:r>
          </a:p>
          <a:p>
            <a:pPr>
              <a:buFont typeface="Wingdings" pitchFamily="2" charset="2"/>
              <a:buChar char="Ø"/>
            </a:pPr>
            <a:r>
              <a:rPr lang="en-US" dirty="0" smtClean="0"/>
              <a:t>Using the system as a simple scientific calculator to compute an algebraic expression.</a:t>
            </a:r>
          </a:p>
          <a:p>
            <a:pPr>
              <a:buFont typeface="Wingdings" pitchFamily="2" charset="2"/>
              <a:buChar char="Ø"/>
            </a:pPr>
            <a:r>
              <a:rPr lang="en-US" dirty="0" smtClean="0"/>
              <a:t>Using the system as a computational tool to:</a:t>
            </a:r>
          </a:p>
          <a:p>
            <a:pPr>
              <a:buNone/>
            </a:pPr>
            <a:endParaRPr lang="en-US" dirty="0" smtClean="0"/>
          </a:p>
          <a:p>
            <a:pPr>
              <a:buFont typeface="Wingdings" pitchFamily="2" charset="2"/>
              <a:buChar char="Ø"/>
            </a:pPr>
            <a:endParaRPr lang="en-US" dirty="0" smtClean="0"/>
          </a:p>
          <a:p>
            <a:pPr>
              <a:buNone/>
            </a:pPr>
            <a:endParaRPr lang="en-US"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RESULTS(cont’d)</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dirty="0" smtClean="0"/>
              <a:t>Perform numerical integration.</a:t>
            </a:r>
          </a:p>
          <a:p>
            <a:pPr>
              <a:buFont typeface="Wingdings" pitchFamily="2" charset="2"/>
              <a:buChar char="Ø"/>
            </a:pPr>
            <a:r>
              <a:rPr lang="en-US" dirty="0" smtClean="0"/>
              <a:t>Solve a 7x7 system of linear equations.</a:t>
            </a:r>
          </a:p>
          <a:p>
            <a:pPr>
              <a:buFont typeface="Wingdings" pitchFamily="2" charset="2"/>
              <a:buChar char="Ø"/>
            </a:pPr>
            <a:r>
              <a:rPr lang="en-US" dirty="0" smtClean="0"/>
              <a:t>Plot a simple 2D graph.</a:t>
            </a:r>
          </a:p>
          <a:p>
            <a:pPr>
              <a:buFont typeface="Wingdings" pitchFamily="2" charset="2"/>
              <a:buChar char="Ø"/>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458200" cy="76200"/>
          </a:xfrm>
        </p:spPr>
        <p:txBody>
          <a:bodyPr>
            <a:normAutofit fontScale="90000"/>
          </a:bodyPr>
          <a:lstStyle/>
          <a:p>
            <a:r>
              <a:rPr lang="en-US" dirty="0" smtClean="0"/>
              <a:t> </a:t>
            </a:r>
            <a:endParaRPr lang="en-US" dirty="0"/>
          </a:p>
        </p:txBody>
      </p:sp>
      <p:pic>
        <p:nvPicPr>
          <p:cNvPr id="1026" name="Picture 2"/>
          <p:cNvPicPr>
            <a:picLocks noGrp="1" noChangeAspect="1" noChangeArrowheads="1"/>
          </p:cNvPicPr>
          <p:nvPr>
            <p:ph idx="1"/>
          </p:nvPr>
        </p:nvPicPr>
        <p:blipFill>
          <a:blip r:embed="rId3"/>
          <a:srcRect/>
          <a:stretch>
            <a:fillRect/>
          </a:stretch>
        </p:blipFill>
        <p:spPr bwMode="auto">
          <a:xfrm>
            <a:off x="167218" y="76200"/>
            <a:ext cx="8839200" cy="662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7696200" cy="152400"/>
          </a:xfrm>
        </p:spPr>
        <p:txBody>
          <a:bodyPr>
            <a:normAutofit fontScale="90000"/>
          </a:bodyPr>
          <a:lstStyle/>
          <a:p>
            <a:r>
              <a:rPr lang="en-US" dirty="0" smtClean="0"/>
              <a:t> </a:t>
            </a:r>
            <a:endParaRPr lang="en-US" dirty="0"/>
          </a:p>
        </p:txBody>
      </p:sp>
      <p:pic>
        <p:nvPicPr>
          <p:cNvPr id="2050" name="Picture 2"/>
          <p:cNvPicPr>
            <a:picLocks noGrp="1" noChangeAspect="1" noChangeArrowheads="1"/>
          </p:cNvPicPr>
          <p:nvPr>
            <p:ph idx="1"/>
          </p:nvPr>
        </p:nvPicPr>
        <p:blipFill>
          <a:blip r:embed="rId3"/>
          <a:srcRect/>
          <a:stretch>
            <a:fillRect/>
          </a:stretch>
        </p:blipFill>
        <p:spPr bwMode="auto">
          <a:xfrm>
            <a:off x="228600" y="152400"/>
            <a:ext cx="8610600" cy="6457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45719"/>
          </a:xfrm>
        </p:spPr>
        <p:txBody>
          <a:bodyPr>
            <a:normAutofit fontScale="90000"/>
          </a:bodyPr>
          <a:lstStyle/>
          <a:p>
            <a:r>
              <a:rPr lang="en-US" dirty="0" smtClean="0"/>
              <a:t> </a:t>
            </a:r>
            <a:endParaRPr lang="en-US" dirty="0"/>
          </a:p>
        </p:txBody>
      </p:sp>
      <p:pic>
        <p:nvPicPr>
          <p:cNvPr id="3074" name="Picture 2"/>
          <p:cNvPicPr>
            <a:picLocks noGrp="1" noChangeAspect="1" noChangeArrowheads="1"/>
          </p:cNvPicPr>
          <p:nvPr>
            <p:ph idx="1"/>
          </p:nvPr>
        </p:nvPicPr>
        <p:blipFill>
          <a:blip r:embed="rId3"/>
          <a:srcRect/>
          <a:stretch>
            <a:fillRect/>
          </a:stretch>
        </p:blipFill>
        <p:spPr bwMode="auto">
          <a:xfrm>
            <a:off x="228600" y="171450"/>
            <a:ext cx="8686800" cy="6515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1"/>
            <a:ext cx="8153400" cy="45719"/>
          </a:xfrm>
        </p:spPr>
        <p:txBody>
          <a:bodyPr>
            <a:normAutofit fontScale="90000"/>
          </a:bodyPr>
          <a:lstStyle/>
          <a:p>
            <a:r>
              <a:rPr lang="en-US" dirty="0" smtClean="0"/>
              <a:t> </a:t>
            </a:r>
            <a:endParaRPr lang="en-US" dirty="0"/>
          </a:p>
        </p:txBody>
      </p:sp>
      <p:pic>
        <p:nvPicPr>
          <p:cNvPr id="5122" name="Picture 2"/>
          <p:cNvPicPr>
            <a:picLocks noGrp="1" noChangeAspect="1" noChangeArrowheads="1"/>
          </p:cNvPicPr>
          <p:nvPr>
            <p:ph idx="1"/>
          </p:nvPr>
        </p:nvPicPr>
        <p:blipFill>
          <a:blip r:embed="rId3"/>
          <a:srcRect/>
          <a:stretch>
            <a:fillRect/>
          </a:stretch>
        </p:blipFill>
        <p:spPr bwMode="auto">
          <a:xfrm>
            <a:off x="228600" y="171450"/>
            <a:ext cx="8686800" cy="6515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r>
              <a:rPr lang="en-US" dirty="0" smtClean="0"/>
              <a:t>   </a:t>
            </a:r>
            <a:endParaRPr lang="en-US" dirty="0"/>
          </a:p>
        </p:txBody>
      </p:sp>
      <p:pic>
        <p:nvPicPr>
          <p:cNvPr id="6146" name="Picture 2"/>
          <p:cNvPicPr>
            <a:picLocks noGrp="1" noChangeAspect="1" noChangeArrowheads="1"/>
          </p:cNvPicPr>
          <p:nvPr>
            <p:ph idx="1"/>
          </p:nvPr>
        </p:nvPicPr>
        <p:blipFill>
          <a:blip r:embed="rId3"/>
          <a:srcRect/>
          <a:stretch>
            <a:fillRect/>
          </a:stretch>
        </p:blipFill>
        <p:spPr bwMode="auto">
          <a:xfrm>
            <a:off x="132292" y="533400"/>
            <a:ext cx="9011708" cy="67587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45719"/>
          </a:xfrm>
        </p:spPr>
        <p:txBody>
          <a:bodyPr>
            <a:normAutofit fontScale="90000"/>
          </a:bodyPr>
          <a:lstStyle/>
          <a:p>
            <a:r>
              <a:rPr lang="en-US" dirty="0" smtClean="0"/>
              <a:t> </a:t>
            </a:r>
            <a:endParaRPr lang="en-US" dirty="0"/>
          </a:p>
        </p:txBody>
      </p:sp>
      <p:pic>
        <p:nvPicPr>
          <p:cNvPr id="7170" name="Picture 2"/>
          <p:cNvPicPr>
            <a:picLocks noGrp="1" noChangeAspect="1" noChangeArrowheads="1"/>
          </p:cNvPicPr>
          <p:nvPr>
            <p:ph idx="1"/>
          </p:nvPr>
        </p:nvPicPr>
        <p:blipFill>
          <a:blip r:embed="rId3"/>
          <a:srcRect/>
          <a:stretch>
            <a:fillRect/>
          </a:stretch>
        </p:blipFill>
        <p:spPr bwMode="auto">
          <a:xfrm>
            <a:off x="381000" y="228600"/>
            <a:ext cx="8483600" cy="6362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686800" cy="46038"/>
          </a:xfrm>
        </p:spPr>
        <p:txBody>
          <a:bodyPr>
            <a:normAutofit fontScale="90000"/>
          </a:bodyPr>
          <a:lstStyle/>
          <a:p>
            <a:r>
              <a:rPr lang="en-US" dirty="0" smtClean="0"/>
              <a:t>     </a:t>
            </a:r>
            <a:endParaRPr lang="en-US" dirty="0"/>
          </a:p>
        </p:txBody>
      </p:sp>
      <p:pic>
        <p:nvPicPr>
          <p:cNvPr id="8194" name="Picture 2"/>
          <p:cNvPicPr>
            <a:picLocks noGrp="1" noChangeAspect="1" noChangeArrowheads="1"/>
          </p:cNvPicPr>
          <p:nvPr>
            <p:ph idx="1"/>
          </p:nvPr>
        </p:nvPicPr>
        <p:blipFill>
          <a:blip r:embed="rId3"/>
          <a:srcRect/>
          <a:stretch>
            <a:fillRect/>
          </a:stretch>
        </p:blipFill>
        <p:spPr bwMode="auto">
          <a:xfrm>
            <a:off x="152400" y="152400"/>
            <a:ext cx="8839200" cy="662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r>
              <a:rPr lang="en-US" dirty="0" smtClean="0"/>
              <a:t>In view of some of the functionality available on the system and the simplicity of the commands used to access them, this project presents an avenue for users to quickly obtain high power math-ware and start using them productively, almost immediately.</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457200" y="762000"/>
            <a:ext cx="8001000" cy="5364163"/>
          </a:xfrm>
        </p:spPr>
        <p:txBody>
          <a:bodyPr/>
          <a:lstStyle/>
          <a:p>
            <a:pPr>
              <a:buNone/>
            </a:pPr>
            <a:endParaRPr lang="en-US" dirty="0" smtClean="0"/>
          </a:p>
          <a:p>
            <a:pPr>
              <a:buNone/>
            </a:pPr>
            <a:endParaRPr lang="en-US" dirty="0"/>
          </a:p>
          <a:p>
            <a:pPr>
              <a:buNone/>
            </a:pPr>
            <a:endParaRPr lang="en-US" dirty="0" smtClean="0"/>
          </a:p>
          <a:p>
            <a:pPr>
              <a:buNone/>
            </a:pPr>
            <a:r>
              <a:rPr lang="en-US" sz="4000" dirty="0">
                <a:solidFill>
                  <a:srgbClr val="FF0000"/>
                </a:solidFill>
                <a:latin typeface="Times New Roman" pitchFamily="18" charset="0"/>
                <a:cs typeface="Times New Roman" pitchFamily="18" charset="0"/>
              </a:rPr>
              <a:t> </a:t>
            </a:r>
            <a:r>
              <a:rPr lang="en-US" sz="4000" dirty="0" smtClean="0">
                <a:solidFill>
                  <a:srgbClr val="FF0000"/>
                </a:solidFill>
                <a:latin typeface="Times New Roman" pitchFamily="18" charset="0"/>
                <a:cs typeface="Times New Roman" pitchFamily="18" charset="0"/>
              </a:rPr>
              <a:t>                  THANKS FOR</a:t>
            </a:r>
          </a:p>
          <a:p>
            <a:pPr>
              <a:buNone/>
            </a:pPr>
            <a:r>
              <a:rPr lang="en-US" sz="4000">
                <a:solidFill>
                  <a:srgbClr val="FF0000"/>
                </a:solidFill>
                <a:latin typeface="Times New Roman" pitchFamily="18" charset="0"/>
                <a:cs typeface="Times New Roman" pitchFamily="18" charset="0"/>
              </a:rPr>
              <a:t> </a:t>
            </a:r>
            <a:r>
              <a:rPr lang="en-US" sz="4000" smtClean="0">
                <a:solidFill>
                  <a:srgbClr val="FF0000"/>
                </a:solidFill>
                <a:latin typeface="Times New Roman" pitchFamily="18" charset="0"/>
                <a:cs typeface="Times New Roman" pitchFamily="18" charset="0"/>
              </a:rPr>
              <a:t>                    LISTENING!</a:t>
            </a:r>
            <a:endParaRPr lang="en-US" sz="4000" dirty="0">
              <a:solidFill>
                <a:srgbClr val="FF0000"/>
              </a:solidFill>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TotalTime>
  <Words>414</Words>
  <Application>Microsoft Office PowerPoint</Application>
  <PresentationFormat>On-screen Show (4:3)</PresentationFormat>
  <Paragraphs>83</Paragraphs>
  <Slides>22</Slides>
  <Notes>21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   </vt:lpstr>
      <vt:lpstr>OUTLINE</vt:lpstr>
      <vt:lpstr>PROBLEM DEFINITION</vt:lpstr>
      <vt:lpstr>SCOPE OF STUDY</vt:lpstr>
      <vt:lpstr>PROJECT JUSTIFICATION</vt:lpstr>
      <vt:lpstr>AIM AND OBJECTIVES</vt:lpstr>
      <vt:lpstr>METHODOLOGY</vt:lpstr>
      <vt:lpstr>LITERATURE REVIEW</vt:lpstr>
      <vt:lpstr>  </vt:lpstr>
      <vt:lpstr>SYSTEM DESIGN</vt:lpstr>
      <vt:lpstr> </vt:lpstr>
      <vt:lpstr>PROJECT RESULTS</vt:lpstr>
      <vt:lpstr>PROJECT RESULTS(cont’d)</vt:lpstr>
      <vt:lpstr> </vt:lpstr>
      <vt:lpstr> </vt:lpstr>
      <vt:lpstr> </vt:lpstr>
      <vt:lpstr> </vt:lpstr>
      <vt:lpstr>   </vt:lpstr>
      <vt:lpstr> </vt:lpstr>
      <vt:lpstr>     </vt:lpstr>
      <vt:lpstr>CONCLUSION</vt:lpstr>
      <vt:lpstr> </vt:lpstr>
    </vt:vector>
  </TitlesOfParts>
  <Company>G-SOFT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GBEMIRO</dc:creator>
  <cp:lastModifiedBy>olalekanfagbohun</cp:lastModifiedBy>
  <cp:revision>34</cp:revision>
  <dcterms:created xsi:type="dcterms:W3CDTF">2010-12-13T11:06:02Z</dcterms:created>
  <dcterms:modified xsi:type="dcterms:W3CDTF">2010-12-13T13:11:34Z</dcterms:modified>
</cp:coreProperties>
</file>